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5" r:id="rId6"/>
    <p:sldId id="266" r:id="rId7"/>
    <p:sldId id="267" r:id="rId8"/>
    <p:sldId id="268" r:id="rId9"/>
    <p:sldId id="269" r:id="rId10"/>
    <p:sldId id="264" r:id="rId1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3C6"/>
    <a:srgbClr val="009FCB"/>
    <a:srgbClr val="005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3" autoAdjust="0"/>
    <p:restoredTop sz="81186" autoAdjust="0"/>
  </p:normalViewPr>
  <p:slideViewPr>
    <p:cSldViewPr showGuides="1">
      <p:cViewPr varScale="1">
        <p:scale>
          <a:sx n="165" d="100"/>
          <a:sy n="165" d="100"/>
        </p:scale>
        <p:origin x="84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90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98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71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993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5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63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9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8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37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4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14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1C118-E279-41E0-9043-BEFEEF350772}" type="datetimeFigureOut">
              <a:rPr lang="ko-KR" altLang="en-US" smtClean="0"/>
              <a:t>2025-04-25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B2CBD-955A-465E-8656-82626C0559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eoul.go.kr/dataList/OA-21275/S/1/datasetView.d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eoul.go.kr/dataList/OA-20502/S/1/datasetView.d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.go.kr/data/15081868/fileData.do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922" y="2248584"/>
            <a:ext cx="5250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2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</a:t>
            </a:r>
          </a:p>
          <a:p>
            <a:pPr algn="ctr"/>
            <a:r>
              <a:rPr lang="ko-KR" altLang="en-US" sz="2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서울시 부동산 실거래가 정보의 활용성 증대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5703" y="3147814"/>
            <a:ext cx="2712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</a:t>
            </a:r>
            <a:r>
              <a:rPr lang="ko-KR" altLang="en-US" sz="12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테크노융합 학과 </a:t>
            </a:r>
            <a:r>
              <a:rPr lang="en-US" altLang="ko-KR" sz="12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– </a:t>
            </a:r>
            <a:r>
              <a:rPr lang="ko-KR" altLang="en-US" sz="12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유영재</a:t>
            </a:r>
            <a:r>
              <a:rPr lang="en-US" altLang="ko-KR" sz="12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</a:t>
            </a:r>
            <a:r>
              <a:rPr lang="ko-KR" altLang="en-US" sz="12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윤지환 </a:t>
            </a:r>
          </a:p>
        </p:txBody>
      </p:sp>
    </p:spTree>
    <p:extLst>
      <p:ext uri="{BB962C8B-B14F-4D97-AF65-F5344CB8AC3E}">
        <p14:creationId xmlns:p14="http://schemas.microsoft.com/office/powerpoint/2010/main" val="2269719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00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4916" y="328138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02868" y="1272379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01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2583" y="127237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프로젝트 개요</a:t>
            </a:r>
            <a:endParaRPr lang="ko-KR" altLang="en-US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02867" y="2165107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02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2582" y="2165107"/>
            <a:ext cx="209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수집</a:t>
            </a:r>
            <a:endParaRPr lang="ko-KR" altLang="en-US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02867" y="3029203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03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2582" y="3029203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데이터의 한계</a:t>
            </a:r>
            <a:endParaRPr lang="ko-KR" altLang="en-US" sz="12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4572000" y="1131590"/>
            <a:ext cx="0" cy="3312368"/>
          </a:xfrm>
          <a:prstGeom prst="line">
            <a:avLst/>
          </a:prstGeom>
          <a:ln w="3175">
            <a:solidFill>
              <a:srgbClr val="009FCB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602867" y="3858602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04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2582" y="3858602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기반 데이터 구축</a:t>
            </a:r>
            <a:endParaRPr lang="ko-KR" altLang="en-US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B311E9-D472-AC08-8E36-3C7A43D559BB}"/>
              </a:ext>
            </a:extLst>
          </p:cNvPr>
          <p:cNvSpPr/>
          <p:nvPr/>
        </p:nvSpPr>
        <p:spPr>
          <a:xfrm>
            <a:off x="5303707" y="1272379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05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48D07-E79F-65C4-C533-E88F04C395D9}"/>
              </a:ext>
            </a:extLst>
          </p:cNvPr>
          <p:cNvSpPr txBox="1"/>
          <p:nvPr/>
        </p:nvSpPr>
        <p:spPr>
          <a:xfrm>
            <a:off x="5663422" y="127237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유용성 증명</a:t>
            </a:r>
            <a:endParaRPr lang="ko-KR" altLang="en-US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0F1D37-589C-66E4-FFDE-B99AF55CBAD7}"/>
              </a:ext>
            </a:extLst>
          </p:cNvPr>
          <p:cNvSpPr/>
          <p:nvPr/>
        </p:nvSpPr>
        <p:spPr>
          <a:xfrm>
            <a:off x="5303706" y="2165107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06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38AF5-E672-ADFC-D9E2-06E9B7B69EF8}"/>
              </a:ext>
            </a:extLst>
          </p:cNvPr>
          <p:cNvSpPr txBox="1"/>
          <p:nvPr/>
        </p:nvSpPr>
        <p:spPr>
          <a:xfrm>
            <a:off x="5663421" y="2165107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분포 분석</a:t>
            </a:r>
            <a:endParaRPr lang="ko-KR" altLang="en-US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D11BBB-7D7A-25A6-50B2-D11F932142EF}"/>
              </a:ext>
            </a:extLst>
          </p:cNvPr>
          <p:cNvSpPr/>
          <p:nvPr/>
        </p:nvSpPr>
        <p:spPr>
          <a:xfrm>
            <a:off x="5303706" y="3029203"/>
            <a:ext cx="360040" cy="369332"/>
          </a:xfrm>
          <a:prstGeom prst="rect">
            <a:avLst/>
          </a:prstGeom>
          <a:solidFill>
            <a:srgbClr val="6EC3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07</a:t>
            </a:r>
            <a:endParaRPr lang="ko-KR" altLang="en-US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BCCC79-7ABA-5C52-784D-F9C90A3B51A7}"/>
              </a:ext>
            </a:extLst>
          </p:cNvPr>
          <p:cNvSpPr txBox="1"/>
          <p:nvPr/>
        </p:nvSpPr>
        <p:spPr>
          <a:xfrm>
            <a:off x="5663421" y="302920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합법성 검토</a:t>
            </a:r>
            <a:endParaRPr lang="ko-KR" altLang="en-US" sz="12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22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01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4916" y="328138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프로젝트 개요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7544" y="1391015"/>
            <a:ext cx="55771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005E86"/>
                </a:solidFill>
                <a:ea typeface="210 M고딕 080" panose="02020603020101020101" pitchFamily="18" charset="-127"/>
              </a:rPr>
              <a:t>AI </a:t>
            </a:r>
            <a:r>
              <a:rPr lang="ko-KR" altLang="en-US" sz="2000" dirty="0">
                <a:solidFill>
                  <a:srgbClr val="005E86"/>
                </a:solidFill>
                <a:ea typeface="210 M고딕 080" panose="02020603020101020101" pitchFamily="18" charset="-127"/>
              </a:rPr>
              <a:t>기반 서울시 부동산 실거래가 분석 프로젝트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67544" y="2199688"/>
            <a:ext cx="6327390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복잡하고 불안정한 대한민국 부동산 시장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데이터 기반의 정확한 분석을 통한 인사이트 도출 필요</a:t>
            </a:r>
            <a:endParaRPr lang="en-US" altLang="ko-KR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기존 실거래가 데이터 한계 극복 및 활용성 증대 시급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CF9FF2-B5B5-BA60-4433-E7002E803724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9D0FF7-1022-6EC9-4D92-76C92E9E8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845" y="1923678"/>
            <a:ext cx="1862336" cy="18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6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02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4916" y="32813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데이터 수집</a:t>
            </a:r>
            <a:endParaRPr lang="ko-KR" altLang="en-US" sz="24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D7327D-C05D-D0B5-0EED-FB312DA4058B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54432E-C60E-7811-625C-4CB35D80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899" y="1810732"/>
            <a:ext cx="2088228" cy="20882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A2372-59D2-2A2E-500E-156F02AC654C}"/>
              </a:ext>
            </a:extLst>
          </p:cNvPr>
          <p:cNvSpPr txBox="1"/>
          <p:nvPr/>
        </p:nvSpPr>
        <p:spPr>
          <a:xfrm>
            <a:off x="467544" y="986527"/>
            <a:ext cx="511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5E86"/>
                </a:solidFill>
                <a:ea typeface="210 M고딕 080" panose="02020603020101020101" pitchFamily="18" charset="-127"/>
              </a:rPr>
              <a:t>주요 데이터 소스</a:t>
            </a:r>
            <a:r>
              <a:rPr lang="en-US" altLang="ko-KR" dirty="0">
                <a:solidFill>
                  <a:srgbClr val="005E86"/>
                </a:solidFill>
                <a:ea typeface="210 M고딕 080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5E86"/>
                </a:solidFill>
                <a:ea typeface="210 M고딕 080" panose="02020603020101020101" pitchFamily="18" charset="-127"/>
              </a:rPr>
              <a:t>서울시 부동산 실거래가 정보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745E4D2-A2DC-45D4-41BB-3679A4442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36" y="1395233"/>
            <a:ext cx="2844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200" dirty="0">
                <a:latin typeface="Arial" panose="020B0604020202020204" pitchFamily="34" charset="0"/>
              </a:rPr>
              <a:t>서울시 부동산 실거래가 정보 활용 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출처: 서울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열린데이터광장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제공 형태: CSV 파일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업데이트 주기: 매일 1회 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4A7261C-783C-0A9C-6F6B-830087329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24764"/>
              </p:ext>
            </p:extLst>
          </p:nvPr>
        </p:nvGraphicFramePr>
        <p:xfrm>
          <a:off x="827583" y="2268357"/>
          <a:ext cx="5040562" cy="20315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20281">
                  <a:extLst>
                    <a:ext uri="{9D8B030D-6E8A-4147-A177-3AD203B41FA5}">
                      <a16:colId xmlns:a16="http://schemas.microsoft.com/office/drawing/2014/main" val="482256334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3919611024"/>
                    </a:ext>
                  </a:extLst>
                </a:gridCol>
              </a:tblGrid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데이터 항목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설명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66816249"/>
                  </a:ext>
                </a:extLst>
              </a:tr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자치구명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거래가 이루어진 자치구 이름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970492799"/>
                  </a:ext>
                </a:extLst>
              </a:tr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법정동명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거래가 이루어진 </a:t>
                      </a:r>
                      <a:r>
                        <a:rPr lang="ko-KR" altLang="en-US" sz="1100" dirty="0" err="1"/>
                        <a:t>법정동</a:t>
                      </a:r>
                      <a:r>
                        <a:rPr lang="ko-KR" altLang="en-US" sz="1100" dirty="0"/>
                        <a:t> 이름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0264496"/>
                  </a:ext>
                </a:extLst>
              </a:tr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신고년도</a:t>
                      </a:r>
                      <a:endParaRPr lang="ko-KR" altLang="en-US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부동산 거래 신고가 접수된 연도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455715760"/>
                  </a:ext>
                </a:extLst>
              </a:tr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물건금액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만원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실제 거래된 부동산 가격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만원 단위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602722954"/>
                  </a:ext>
                </a:extLst>
              </a:tr>
              <a:tr h="37831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건물면적</a:t>
                      </a:r>
                      <a:r>
                        <a:rPr lang="en-US" altLang="ko-KR" sz="1100" dirty="0"/>
                        <a:t>(㎡)</a:t>
                      </a:r>
                      <a:endParaRPr lang="ko-KR" altLang="en-US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거래된 건물의 연면적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제곱미터 단위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179715368"/>
                  </a:ext>
                </a:extLst>
              </a:tr>
              <a:tr h="2755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건축년도</a:t>
                      </a:r>
                      <a:endParaRPr lang="ko-KR" altLang="en-US" sz="11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건물이 건축된 연도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766755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F43DAD5-59B0-A83F-0C38-FC14034A6C96}"/>
              </a:ext>
            </a:extLst>
          </p:cNvPr>
          <p:cNvSpPr txBox="1"/>
          <p:nvPr/>
        </p:nvSpPr>
        <p:spPr>
          <a:xfrm>
            <a:off x="803375" y="4308236"/>
            <a:ext cx="38884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출처</a:t>
            </a:r>
            <a:r>
              <a:rPr lang="en-US" altLang="ko-KR" sz="900" dirty="0"/>
              <a:t>: </a:t>
            </a:r>
            <a:r>
              <a:rPr lang="ko-KR" altLang="en-US" sz="900" dirty="0">
                <a:hlinkClick r:id="rId3"/>
              </a:rPr>
              <a:t>서울 </a:t>
            </a:r>
            <a:r>
              <a:rPr lang="ko-KR" altLang="en-US" sz="900" dirty="0" err="1">
                <a:hlinkClick r:id="rId3"/>
              </a:rPr>
              <a:t>열린데이터</a:t>
            </a:r>
            <a:r>
              <a:rPr lang="ko-KR" altLang="en-US" sz="900" dirty="0">
                <a:hlinkClick r:id="rId3"/>
              </a:rPr>
              <a:t> 광장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2314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90197-687D-1931-3CBC-58B8C2AC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8FCCCF4-7218-D445-3DE0-88E3DEF3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75" y="1821855"/>
            <a:ext cx="2006352" cy="200635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9F93301-F01C-BDAF-7F7A-9FCE23F6EF83}"/>
              </a:ext>
            </a:extLst>
          </p:cNvPr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03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E8157-7BB2-CA0C-9862-BE42F4B54A6C}"/>
              </a:ext>
            </a:extLst>
          </p:cNvPr>
          <p:cNvSpPr txBox="1"/>
          <p:nvPr/>
        </p:nvSpPr>
        <p:spPr>
          <a:xfrm>
            <a:off x="924916" y="328138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기존 데이터의 한계</a:t>
            </a:r>
            <a:endParaRPr lang="ko-KR" altLang="en-US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70A0447-C84C-3EC4-311C-7F74A4709575}"/>
              </a:ext>
            </a:extLst>
          </p:cNvPr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387EB9F-6137-FEDE-3E87-2CE160C2A695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BE14D-0506-06E9-7357-1899C7DB170A}"/>
              </a:ext>
            </a:extLst>
          </p:cNvPr>
          <p:cNvSpPr txBox="1"/>
          <p:nvPr/>
        </p:nvSpPr>
        <p:spPr>
          <a:xfrm>
            <a:off x="575556" y="132545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005E86"/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문제점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B55158-AAFE-BEE0-D6C1-75FDAFEAE2FF}"/>
              </a:ext>
            </a:extLst>
          </p:cNvPr>
          <p:cNvSpPr/>
          <p:nvPr/>
        </p:nvSpPr>
        <p:spPr>
          <a:xfrm>
            <a:off x="626108" y="2182387"/>
            <a:ext cx="6327390" cy="1285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분할된 주소 정보로 직관적인 위치 파악 어려움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지도 연동 기반의 정확한 물건 위치 확인 제약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중요 입지 정보 </a:t>
            </a:r>
            <a:r>
              <a:rPr lang="en-US" altLang="ko-KR" dirty="0"/>
              <a:t>(</a:t>
            </a:r>
            <a:r>
              <a:rPr lang="ko-KR" altLang="en-US" dirty="0"/>
              <a:t>지하철역</a:t>
            </a:r>
            <a:r>
              <a:rPr lang="en-US" altLang="ko-KR" dirty="0"/>
              <a:t>, </a:t>
            </a:r>
            <a:r>
              <a:rPr lang="ko-KR" altLang="en-US" dirty="0"/>
              <a:t>학군 등</a:t>
            </a:r>
            <a:r>
              <a:rPr lang="en-US" altLang="ko-KR" dirty="0"/>
              <a:t>) </a:t>
            </a:r>
            <a:r>
              <a:rPr lang="ko-KR" altLang="en-US" dirty="0"/>
              <a:t>부재</a:t>
            </a:r>
          </a:p>
        </p:txBody>
      </p:sp>
    </p:spTree>
    <p:extLst>
      <p:ext uri="{BB962C8B-B14F-4D97-AF65-F5344CB8AC3E}">
        <p14:creationId xmlns:p14="http://schemas.microsoft.com/office/powerpoint/2010/main" val="203027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410C-C3C3-F556-6019-E698EB19E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39F05D8-FC5E-1A0C-5FDF-AF7EA6C01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04" y="1995686"/>
            <a:ext cx="1800200" cy="1800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D49A1B3-84A8-A012-DA51-F9EA6111F5A6}"/>
              </a:ext>
            </a:extLst>
          </p:cNvPr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04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195E2-3FAC-300D-3125-EA43BF7BA369}"/>
              </a:ext>
            </a:extLst>
          </p:cNvPr>
          <p:cNvSpPr txBox="1"/>
          <p:nvPr/>
        </p:nvSpPr>
        <p:spPr>
          <a:xfrm>
            <a:off x="924916" y="328138"/>
            <a:ext cx="2951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AI </a:t>
            </a:r>
            <a:r>
              <a:rPr lang="ko-KR" altLang="en-US" sz="2400" dirty="0"/>
              <a:t>기반 데이터 구축</a:t>
            </a:r>
            <a:endParaRPr lang="ko-KR" altLang="en-US" sz="24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EAFAC1-1C45-0DCE-7C65-5371238FC1B0}"/>
              </a:ext>
            </a:extLst>
          </p:cNvPr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E9B3B3F-E7D9-FBAD-F970-DB8E6E7A88E6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4F2ED-A6C6-3111-C1D7-DCAA0DC97F86}"/>
              </a:ext>
            </a:extLst>
          </p:cNvPr>
          <p:cNvSpPr txBox="1"/>
          <p:nvPr/>
        </p:nvSpPr>
        <p:spPr>
          <a:xfrm>
            <a:off x="550778" y="983507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05E86"/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방안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87B5BF-3850-A6F6-DB18-12140C6A796D}"/>
              </a:ext>
            </a:extLst>
          </p:cNvPr>
          <p:cNvSpPr/>
          <p:nvPr/>
        </p:nvSpPr>
        <p:spPr>
          <a:xfrm>
            <a:off x="585012" y="1411050"/>
            <a:ext cx="6327390" cy="3519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주소 표준화 및 위치 좌표 확보</a:t>
            </a:r>
            <a:br>
              <a:rPr lang="en-US" altLang="ko-KR" sz="1200" dirty="0"/>
            </a:br>
            <a:r>
              <a:rPr lang="ko-KR" altLang="en-US" sz="1200" b="1" dirty="0"/>
              <a:t>목표</a:t>
            </a:r>
            <a:r>
              <a:rPr lang="en-US" altLang="ko-KR" sz="1200" b="1" dirty="0"/>
              <a:t>:</a:t>
            </a:r>
            <a:r>
              <a:rPr lang="ko-KR" altLang="en-US" sz="1200" dirty="0"/>
              <a:t> 분할된 주소 정보를 통합하고 </a:t>
            </a:r>
            <a:r>
              <a:rPr lang="ko-KR" altLang="en-US" sz="1200" dirty="0" err="1"/>
              <a:t>표준화하여</a:t>
            </a:r>
            <a:r>
              <a:rPr lang="ko-KR" altLang="en-US" sz="1200" dirty="0"/>
              <a:t> 정확한 </a:t>
            </a:r>
            <a:r>
              <a:rPr lang="ko-KR" altLang="en-US" sz="1200" dirty="0" err="1"/>
              <a:t>지오코딩</a:t>
            </a:r>
            <a:r>
              <a:rPr lang="en-US" altLang="ko-KR" sz="1200" dirty="0"/>
              <a:t>(</a:t>
            </a:r>
            <a:r>
              <a:rPr lang="ko-KR" altLang="en-US" sz="1200" dirty="0"/>
              <a:t>주소를 위도</a:t>
            </a:r>
            <a:r>
              <a:rPr lang="en-US" altLang="ko-KR" sz="1200" dirty="0"/>
              <a:t>, </a:t>
            </a:r>
            <a:r>
              <a:rPr lang="ko-KR" altLang="en-US" sz="1200" dirty="0"/>
              <a:t>경도로 변환</a:t>
            </a:r>
            <a:r>
              <a:rPr lang="en-US" altLang="ko-KR" sz="1200" dirty="0"/>
              <a:t>)</a:t>
            </a:r>
            <a:r>
              <a:rPr lang="ko-KR" altLang="en-US" sz="1200" dirty="0"/>
              <a:t>을 수행함</a:t>
            </a:r>
            <a:r>
              <a:rPr lang="en-US" altLang="ko-KR" sz="1200" dirty="0"/>
              <a:t>. </a:t>
            </a:r>
            <a:r>
              <a:rPr lang="ko-KR" altLang="en-US" sz="1200" dirty="0"/>
              <a:t>최종적으로 해당 위치를 보여주는 지도 </a:t>
            </a:r>
            <a:r>
              <a:rPr lang="en-US" altLang="ko-KR" sz="1200" dirty="0"/>
              <a:t>URL</a:t>
            </a:r>
            <a:r>
              <a:rPr lang="ko-KR" altLang="en-US" sz="1200" dirty="0"/>
              <a:t>을 생성함</a:t>
            </a: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200" dirty="0"/>
              <a:t>활용 </a:t>
            </a:r>
            <a:r>
              <a:rPr lang="en-US" altLang="ko-KR" sz="1200" dirty="0"/>
              <a:t>Python API/</a:t>
            </a:r>
            <a:r>
              <a:rPr lang="ko-KR" altLang="en-US" sz="1200" dirty="0"/>
              <a:t>서비스</a:t>
            </a:r>
            <a:endParaRPr lang="en-US" altLang="ko-KR" sz="12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 err="1"/>
              <a:t>지오코딩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API:</a:t>
            </a:r>
            <a:r>
              <a:rPr lang="en-US" altLang="ko-KR" sz="1100" dirty="0"/>
              <a:t> Kakao Maps API, Naver Maps API, Google Geocoding API </a:t>
            </a:r>
            <a:r>
              <a:rPr lang="ko-KR" altLang="en-US" sz="1100" dirty="0"/>
              <a:t>등</a:t>
            </a:r>
            <a:endParaRPr lang="en-US" altLang="ko-KR" sz="11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중요 입지 정보 </a:t>
            </a:r>
            <a:r>
              <a:rPr lang="en-US" altLang="ko-KR" sz="1400" dirty="0"/>
              <a:t>(</a:t>
            </a:r>
            <a:r>
              <a:rPr lang="ko-KR" altLang="en-US" sz="1400" dirty="0"/>
              <a:t>지하철역</a:t>
            </a:r>
            <a:r>
              <a:rPr lang="en-US" altLang="ko-KR" sz="1400" dirty="0"/>
              <a:t>, </a:t>
            </a:r>
            <a:r>
              <a:rPr lang="ko-KR" altLang="en-US" sz="1400" dirty="0"/>
              <a:t>학군</a:t>
            </a:r>
            <a:r>
              <a:rPr lang="en-US" altLang="ko-KR" sz="1400" dirty="0"/>
              <a:t>) </a:t>
            </a:r>
            <a:r>
              <a:rPr lang="ko-KR" altLang="en-US" sz="1400" dirty="0"/>
              <a:t>연계</a:t>
            </a:r>
            <a:br>
              <a:rPr lang="en-US" altLang="ko-KR" sz="1200" dirty="0"/>
            </a:br>
            <a:r>
              <a:rPr lang="ko-KR" altLang="en-US" sz="1200" b="1" dirty="0"/>
              <a:t>목표</a:t>
            </a:r>
            <a:r>
              <a:rPr lang="en-US" altLang="ko-KR" sz="1200" b="1" dirty="0"/>
              <a:t>:</a:t>
            </a:r>
            <a:r>
              <a:rPr lang="ko-KR" altLang="en-US" sz="1200" dirty="0"/>
              <a:t> 부동산 데이터에 가장 가까운 지하철역 정보와 해당 학군 정보를 추가하여 입지 분석에 필요한 데이터를 구축 </a:t>
            </a:r>
            <a:r>
              <a:rPr lang="en-US" altLang="ko-KR" sz="1200" dirty="0"/>
              <a:t>(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hlinkClick r:id="rId3"/>
              </a:rPr>
              <a:t>서울시 학교 기본정보</a:t>
            </a:r>
            <a:r>
              <a:rPr lang="ko-KR" altLang="en-US" sz="1200" b="1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및 </a:t>
            </a:r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4"/>
              </a:rPr>
              <a:t>서울교통공사</a:t>
            </a:r>
            <a:r>
              <a:rPr lang="en-US" altLang="ko-KR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4"/>
              </a:rPr>
              <a:t>_</a:t>
            </a:r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4"/>
              </a:rPr>
              <a:t>지하철역정보</a:t>
            </a:r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이용</a:t>
            </a:r>
            <a:r>
              <a:rPr lang="en-US" altLang="ko-KR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br>
              <a:rPr lang="en-US" altLang="ko-KR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400" dirty="0"/>
              <a:t>- </a:t>
            </a:r>
            <a:r>
              <a:rPr lang="ko-KR" altLang="en-US" sz="1200" dirty="0"/>
              <a:t>활용 </a:t>
            </a:r>
            <a:r>
              <a:rPr lang="en-US" altLang="ko-KR" sz="1200" dirty="0"/>
              <a:t>Python API/</a:t>
            </a:r>
            <a:r>
              <a:rPr lang="ko-KR" altLang="en-US" sz="1200" dirty="0"/>
              <a:t>서비스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공간 분석 라이브러리 및 거리 계산 </a:t>
            </a:r>
            <a:r>
              <a:rPr lang="en-US" altLang="ko-KR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</a:t>
            </a: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r>
              <a:rPr lang="en-US" altLang="ko-KR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Shapely, </a:t>
            </a:r>
            <a:r>
              <a:rPr lang="en-US" altLang="ko-KR" sz="110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scipy.spatial</a:t>
            </a:r>
            <a:r>
              <a:rPr lang="en-US" altLang="ko-KR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endParaRPr lang="en-US" altLang="ko-KR" sz="11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3337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D14B-2327-D41E-F7C0-92601F28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55CFB9-431D-A384-BE42-78DF820999EE}"/>
              </a:ext>
            </a:extLst>
          </p:cNvPr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05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DF675-1555-E304-0E1C-736029108B25}"/>
              </a:ext>
            </a:extLst>
          </p:cNvPr>
          <p:cNvSpPr txBox="1"/>
          <p:nvPr/>
        </p:nvSpPr>
        <p:spPr>
          <a:xfrm>
            <a:off x="924916" y="32813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유용성 증명</a:t>
            </a:r>
            <a:endParaRPr lang="ko-KR" altLang="en-US" sz="24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C3BA73D-BD81-35BF-5038-BA65D7E8E86B}"/>
              </a:ext>
            </a:extLst>
          </p:cNvPr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9E1784-7BB0-6ADB-36E0-C9FE4458A2D9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5588D-DBC8-4276-3D70-136D9AD83B92}"/>
              </a:ext>
            </a:extLst>
          </p:cNvPr>
          <p:cNvSpPr txBox="1"/>
          <p:nvPr/>
        </p:nvSpPr>
        <p:spPr>
          <a:xfrm>
            <a:off x="594819" y="1491630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005E86"/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개발이 완료되면</a:t>
            </a:r>
            <a:r>
              <a:rPr lang="en-US" altLang="ko-KR" sz="2400" dirty="0">
                <a:solidFill>
                  <a:srgbClr val="005E86"/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,</a:t>
            </a:r>
            <a:endParaRPr lang="ko-KR" altLang="en-US" sz="2400" dirty="0">
              <a:solidFill>
                <a:srgbClr val="005E86"/>
              </a:solidFill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7AEFD0-F7D0-FD31-8DB8-B1ED2078FDCC}"/>
              </a:ext>
            </a:extLst>
          </p:cNvPr>
          <p:cNvSpPr/>
          <p:nvPr/>
        </p:nvSpPr>
        <p:spPr>
          <a:xfrm>
            <a:off x="629096" y="2283718"/>
            <a:ext cx="6327390" cy="1154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600" dirty="0"/>
              <a:t>위치 좌표 확보 및 지도 연동으로 데이터 공간 이해도 향상</a:t>
            </a:r>
            <a:endParaRPr lang="en-US" altLang="ko-KR" sz="1600" dirty="0"/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600" dirty="0"/>
              <a:t>지하철역</a:t>
            </a:r>
            <a:r>
              <a:rPr lang="en-US" altLang="ko-KR" sz="1600" dirty="0"/>
              <a:t>, </a:t>
            </a:r>
            <a:r>
              <a:rPr lang="ko-KR" altLang="en-US" sz="1600" dirty="0"/>
              <a:t>학군 등 중요 입지 요인 분석 가능 데이터 구축</a:t>
            </a:r>
            <a:endParaRPr lang="en-US" altLang="ko-KR" sz="1600" dirty="0"/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600" dirty="0"/>
              <a:t>직관적 시각화로 사용자 부동산 시장 이해 및 의사결정 지원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13AC2EF-ED81-D8CD-B732-0AA943A8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360" y="1765742"/>
            <a:ext cx="1958136" cy="19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6B4E-3E5A-4152-BA7E-F35CD16F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44E6AA-FEBB-DE5C-6AF6-2B37763F746E}"/>
              </a:ext>
            </a:extLst>
          </p:cNvPr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06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A0079-2080-AB7F-4937-C223E73632E4}"/>
              </a:ext>
            </a:extLst>
          </p:cNvPr>
          <p:cNvSpPr txBox="1"/>
          <p:nvPr/>
        </p:nvSpPr>
        <p:spPr>
          <a:xfrm>
            <a:off x="924916" y="328138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데이터 분포 분석</a:t>
            </a:r>
            <a:endParaRPr lang="ko-KR" altLang="en-US" sz="24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1703C84-E316-4AD3-C352-CFADC19C4CDE}"/>
              </a:ext>
            </a:extLst>
          </p:cNvPr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F2CF66E-3C88-E0E8-A466-2A26F24A77A5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EB0A1-E8BC-988C-718F-1DCB53739A30}"/>
              </a:ext>
            </a:extLst>
          </p:cNvPr>
          <p:cNvSpPr txBox="1"/>
          <p:nvPr/>
        </p:nvSpPr>
        <p:spPr>
          <a:xfrm>
            <a:off x="467544" y="938289"/>
            <a:ext cx="5035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5E86"/>
                </a:solidFill>
                <a:ea typeface="210 M고딕 080" panose="02020603020101020101" pitchFamily="18" charset="-127"/>
              </a:rPr>
              <a:t>데이터 현황 및 주요 특징 </a:t>
            </a:r>
            <a:r>
              <a:rPr lang="en-US" altLang="ko-KR" sz="1600" dirty="0">
                <a:solidFill>
                  <a:srgbClr val="005E86"/>
                </a:solidFill>
                <a:ea typeface="210 M고딕 080" panose="02020603020101020101" pitchFamily="18" charset="-127"/>
              </a:rPr>
              <a:t>(</a:t>
            </a:r>
            <a:r>
              <a:rPr lang="ko-KR" altLang="en-US" sz="1600" dirty="0">
                <a:solidFill>
                  <a:srgbClr val="005E86"/>
                </a:solidFill>
                <a:ea typeface="210 M고딕 080" panose="02020603020101020101" pitchFamily="18" charset="-127"/>
              </a:rPr>
              <a:t>최근 </a:t>
            </a:r>
            <a:r>
              <a:rPr lang="en-US" altLang="ko-KR" sz="1600" dirty="0">
                <a:solidFill>
                  <a:srgbClr val="005E86"/>
                </a:solidFill>
                <a:ea typeface="210 M고딕 080" panose="02020603020101020101" pitchFamily="18" charset="-127"/>
              </a:rPr>
              <a:t>1000</a:t>
            </a:r>
            <a:r>
              <a:rPr lang="ko-KR" altLang="en-US" sz="1600" dirty="0">
                <a:solidFill>
                  <a:srgbClr val="005E86"/>
                </a:solidFill>
                <a:ea typeface="210 M고딕 080" panose="02020603020101020101" pitchFamily="18" charset="-127"/>
              </a:rPr>
              <a:t>개의 거래 기준</a:t>
            </a:r>
            <a:r>
              <a:rPr lang="en-US" altLang="ko-KR" sz="1600" dirty="0">
                <a:solidFill>
                  <a:srgbClr val="005E86"/>
                </a:solidFill>
                <a:ea typeface="210 M고딕 080" panose="02020603020101020101" pitchFamily="18" charset="-127"/>
              </a:rPr>
              <a:t>)</a:t>
            </a:r>
            <a:endParaRPr lang="ko-KR" altLang="en-US" sz="1600" dirty="0">
              <a:solidFill>
                <a:srgbClr val="005E86"/>
              </a:solidFill>
              <a:ea typeface="210 M고딕 080" panose="02020603020101020101" pitchFamily="18" charset="-127"/>
            </a:endParaRPr>
          </a:p>
        </p:txBody>
      </p:sp>
      <p:pic>
        <p:nvPicPr>
          <p:cNvPr id="9" name="그림 8" descr="라인, 텍스트, 그래프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5B6E8D-A608-2F1C-60F5-90987EC61B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2" y="1322842"/>
            <a:ext cx="7999415" cy="1752964"/>
          </a:xfrm>
          <a:prstGeom prst="rect">
            <a:avLst/>
          </a:prstGeom>
        </p:spPr>
      </p:pic>
      <p:pic>
        <p:nvPicPr>
          <p:cNvPr id="12" name="그림 11" descr="스크린샷, 도표, 그래픽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712201C-9C03-4A7B-4CA0-0944BC9598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92" y="3147814"/>
            <a:ext cx="7999415" cy="14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4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19DC-6394-1425-4209-D8D3FD84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6AC1B04-1CD8-259A-F620-E34A3C65B266}"/>
              </a:ext>
            </a:extLst>
          </p:cNvPr>
          <p:cNvSpPr/>
          <p:nvPr/>
        </p:nvSpPr>
        <p:spPr>
          <a:xfrm>
            <a:off x="251520" y="0"/>
            <a:ext cx="648072" cy="771550"/>
          </a:xfrm>
          <a:prstGeom prst="rect">
            <a:avLst/>
          </a:prstGeom>
          <a:solidFill>
            <a:srgbClr val="009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</a:rPr>
              <a:t>07</a:t>
            </a:r>
            <a:endParaRPr lang="ko-KR" altLang="en-US" sz="3600" dirty="0">
              <a:latin typeface="210 M고딕 080" panose="02020603020101020101" pitchFamily="18" charset="-127"/>
              <a:ea typeface="210 M고딕 080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32F9D-129D-0B67-4066-A8113AD49CCC}"/>
              </a:ext>
            </a:extLst>
          </p:cNvPr>
          <p:cNvSpPr txBox="1"/>
          <p:nvPr/>
        </p:nvSpPr>
        <p:spPr>
          <a:xfrm>
            <a:off x="924916" y="32813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합법성 검토</a:t>
            </a:r>
            <a:endParaRPr lang="ko-KR" altLang="en-US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28641C1-D139-9183-82BC-726112A836C7}"/>
              </a:ext>
            </a:extLst>
          </p:cNvPr>
          <p:cNvCxnSpPr/>
          <p:nvPr/>
        </p:nvCxnSpPr>
        <p:spPr>
          <a:xfrm>
            <a:off x="251520" y="771550"/>
            <a:ext cx="7992888" cy="0"/>
          </a:xfrm>
          <a:prstGeom prst="line">
            <a:avLst/>
          </a:prstGeom>
          <a:ln>
            <a:solidFill>
              <a:srgbClr val="009F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A2350F-64AD-F0D1-61F2-7C4690B421C6}"/>
              </a:ext>
            </a:extLst>
          </p:cNvPr>
          <p:cNvSpPr txBox="1"/>
          <p:nvPr/>
        </p:nvSpPr>
        <p:spPr>
          <a:xfrm>
            <a:off x="899592" y="92802"/>
            <a:ext cx="64443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AI </a:t>
            </a:r>
            <a:r>
              <a:rPr lang="ko-KR" altLang="en-US" sz="105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기반 데이터 연계 및 공간 분석을 통한 서울시 부동산 실거래가 정보의 활용성 증대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625A5-577F-9A93-80D1-50D3D7F61969}"/>
              </a:ext>
            </a:extLst>
          </p:cNvPr>
          <p:cNvSpPr txBox="1"/>
          <p:nvPr/>
        </p:nvSpPr>
        <p:spPr>
          <a:xfrm>
            <a:off x="594819" y="1491630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05E86"/>
                </a:solidFill>
                <a:latin typeface="210 M고딕 080" panose="02020603020101020101" pitchFamily="18" charset="-127"/>
                <a:ea typeface="210 M고딕 080" panose="02020603020101020101" pitchFamily="18" charset="-127"/>
              </a:rPr>
              <a:t>라이센스 확인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A37D8C-B6F7-9F0C-AB68-B9B0D1EF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993" y="1851670"/>
            <a:ext cx="1539628" cy="153962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0C1F51-495A-308D-D8B9-CC1808E94288}"/>
              </a:ext>
            </a:extLst>
          </p:cNvPr>
          <p:cNvSpPr/>
          <p:nvPr/>
        </p:nvSpPr>
        <p:spPr>
          <a:xfrm>
            <a:off x="683568" y="2229806"/>
            <a:ext cx="6327390" cy="1152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서울시 </a:t>
            </a:r>
            <a:r>
              <a:rPr lang="ko-KR" altLang="en-US" sz="1600" dirty="0" err="1"/>
              <a:t>열린데이터광장</a:t>
            </a:r>
            <a:r>
              <a:rPr lang="ko-KR" altLang="en-US" sz="1600" dirty="0"/>
              <a:t> 공공누리 </a:t>
            </a:r>
            <a:r>
              <a:rPr lang="en-US" altLang="ko-KR" sz="1600" dirty="0"/>
              <a:t>1</a:t>
            </a:r>
            <a:r>
              <a:rPr lang="ko-KR" altLang="en-US" sz="1600" dirty="0"/>
              <a:t>유형 라이센스 준수 </a:t>
            </a:r>
            <a:br>
              <a:rPr lang="en-US" altLang="ko-KR" sz="1600" dirty="0"/>
            </a:br>
            <a:r>
              <a:rPr lang="en-US" altLang="ko-KR" sz="1600" dirty="0"/>
              <a:t>(</a:t>
            </a:r>
            <a:r>
              <a:rPr lang="ko-KR" altLang="en-US" sz="1600" dirty="0"/>
              <a:t>상업 이용 및 변경 가능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추가 데이터셋 라이선스 확인 및 준수</a:t>
            </a:r>
          </a:p>
        </p:txBody>
      </p:sp>
    </p:spTree>
    <p:extLst>
      <p:ext uri="{BB962C8B-B14F-4D97-AF65-F5344CB8AC3E}">
        <p14:creationId xmlns:p14="http://schemas.microsoft.com/office/powerpoint/2010/main" val="371802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9334" y="2211710"/>
            <a:ext cx="3525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끝까지 들어주셔서 감사합니다</a:t>
            </a:r>
            <a:r>
              <a:rPr lang="en-US" altLang="ko-KR" sz="2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  <a:endParaRPr lang="ko-KR" altLang="en-US" sz="20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690818" y="2008230"/>
            <a:ext cx="3762369" cy="118928"/>
          </a:xfrm>
          <a:prstGeom prst="rect">
            <a:avLst/>
          </a:prstGeom>
          <a:gradFill flip="none" rotWithShape="1">
            <a:gsLst>
              <a:gs pos="50000">
                <a:srgbClr val="009FCB"/>
              </a:gs>
              <a:gs pos="0">
                <a:srgbClr val="6EC3C6"/>
              </a:gs>
              <a:gs pos="100000">
                <a:srgbClr val="005E8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39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507</Words>
  <Application>Microsoft Office PowerPoint</Application>
  <PresentationFormat>화면 슬라이드 쇼(16:9)</PresentationFormat>
  <Paragraphs>84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210 M고딕 040</vt:lpstr>
      <vt:lpstr>210 M고딕 080</vt:lpstr>
      <vt:lpstr>Noto Sans KR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국도리</dc:creator>
  <cp:lastModifiedBy>한성 연구원2</cp:lastModifiedBy>
  <cp:revision>10</cp:revision>
  <dcterms:created xsi:type="dcterms:W3CDTF">2018-04-30T15:19:00Z</dcterms:created>
  <dcterms:modified xsi:type="dcterms:W3CDTF">2025-04-25T13:17:44Z</dcterms:modified>
</cp:coreProperties>
</file>